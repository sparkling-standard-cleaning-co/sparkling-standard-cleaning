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886200" cy="50292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lock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6032"/>
            <a:ext cx="1920240" cy="153182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274320" y="84124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200" dirty="0">
                <a:solidFill>
                  <a:srgbClr val="B15A6F"/>
                </a:solidFill>
                <a:latin typeface="Great Vibes"/>
              </a:rPr>
              <a:t>A note from Hayli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274320" y="1207008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</a:pPr>
            <a:r>
              <a:rPr lang="en-US" sz="2000" b="1" dirty="0">
                <a:solidFill>
                  <a:srgbClr val="302429"/>
                </a:solidFill>
                <a:latin typeface="Fraunces"/>
              </a:rPr>
              <a:t>A cleaner home. Less stress. More time.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274320" y="187452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900" dirty="0">
                <a:solidFill>
                  <a:srgbClr val="4A3B40"/>
                </a:solidFill>
                <a:latin typeface="Nunito Sans"/>
              </a:rPr>
              <a:t>Recurring house cleaning planned around your home — not a route clock. Every request is confirmed personally before anything is scheduled.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274320" y="2468880"/>
            <a:ext cx="3337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</a:pPr>
            <a:r>
              <a:rPr lang="en-US" sz="900" dirty="0">
                <a:solidFill>
                  <a:srgbClr val="4A3B40"/>
                </a:solidFill>
                <a:latin typeface="Nunito Sans"/>
              </a:rPr>
              <a:t>✓  Estimates built from real labor hours
✓  Weekly, biweekly or monthly — the details stay done
✓  Hayli personally confirms every request</a:t>
            </a:r>
          </a:p>
        </p:txBody>
      </p:sp>
      <p:pic>
        <p:nvPicPr>
          <p:cNvPr id="7" name="QR — quarter 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20440"/>
            <a:ext cx="960120" cy="96012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274320" y="4526280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600" dirty="0">
                <a:solidFill>
                  <a:srgbClr val="6F5F57"/>
                </a:solidFill>
                <a:latin typeface="Nunito Sans"/>
              </a:rPr>
              <a:t>Scan me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2011680" y="3977640"/>
            <a:ext cx="16002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30000"/>
              </a:lnSpc>
            </a:pPr>
            <a:r>
              <a:rPr lang="en-US" sz="850" dirty="0">
                <a:solidFill>
                  <a:srgbClr val="4A3B40"/>
                </a:solidFill>
                <a:latin typeface="Nunito Sans"/>
              </a:rPr>
              <a:t>(850) 426-8479
owner@sparkling-standard.com
sparkling-standard.com
Seven days a week · 8:00 AM – 6:00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ling Standard">
  <a:themeElements>
    <a:clrScheme name="Sparkling">
      <a:dk1>
        <a:srgbClr val="302429"/>
      </a:dk1>
      <a:lt1>
        <a:srgbClr val="FDFBF8"/>
      </a:lt1>
      <a:dk2>
        <a:srgbClr val="3D3036"/>
      </a:dk2>
      <a:lt2>
        <a:srgbClr val="F9F3ED"/>
      </a:lt2>
      <a:accent1>
        <a:srgbClr val="93475B"/>
      </a:accent1>
      <a:accent2>
        <a:srgbClr val="C6A369"/>
      </a:accent2>
      <a:accent3>
        <a:srgbClr val="8BA888"/>
      </a:accent3>
      <a:accent4>
        <a:srgbClr val="6F5F57"/>
      </a:accent4>
      <a:accent5>
        <a:srgbClr val="E8B3BF"/>
      </a:accent5>
      <a:accent6>
        <a:srgbClr val="4A3B40"/>
      </a:accent6>
      <a:hlink>
        <a:srgbClr val="93475B"/>
      </a:hlink>
      <a:folHlink>
        <a:srgbClr val="7A3A4B"/>
      </a:folHlink>
    </a:clrScheme>
    <a:fontScheme name="Sparkling">
      <a:majorFont>
        <a:latin typeface="Fraunces"/>
        <a:ea typeface=""/>
        <a:cs typeface=""/>
      </a:majorFont>
      <a:minorFont>
        <a:latin typeface="Nunito Sans"/>
        <a:ea typeface=""/>
        <a:cs typeface=""/>
      </a:minorFont>
    </a:fontScheme>
    <a:fmtScheme name="Spark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