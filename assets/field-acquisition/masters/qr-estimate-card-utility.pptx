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657600" cy="54864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lock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56032"/>
            <a:ext cx="1737360" cy="138593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274320" y="10515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2600" dirty="0">
                <a:solidFill>
                  <a:srgbClr val="B15A6F"/>
                </a:solidFill>
                <a:latin typeface="Great Vibes"/>
              </a:rPr>
              <a:t>Let's get your price.</a:t>
            </a:r>
          </a:p>
        </p:txBody>
      </p:sp>
      <p:pic>
        <p:nvPicPr>
          <p:cNvPr id="4" name="QR — estimate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360"/>
            <a:ext cx="1828800" cy="182880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914400" y="3611880"/>
            <a:ext cx="1828800" cy="12801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700" dirty="0">
                <a:solidFill>
                  <a:srgbClr val="6F5F57"/>
                </a:solidFill>
                <a:latin typeface="Nunito Sans"/>
              </a:rPr>
              <a:t>Scan me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274320" y="38862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lang="en-US" sz="900" dirty="0">
                <a:solidFill>
                  <a:srgbClr val="4A3B40"/>
                </a:solidFill>
                <a:latin typeface="Nunito Sans"/>
              </a:rPr>
              <a:t>Answer a few questions about your home and see your proposed price instantly.</a:t>
            </a:r>
          </a:p>
        </p:txBody>
      </p:sp>
      <p:sp>
        <p:nvSpPr>
          <p:cNvPr id="7" name="Trust panel"/>
          <p:cNvSpPr/>
          <p:nvPr/>
        </p:nvSpPr>
        <p:spPr>
          <a:xfrm>
            <a:off x="274320" y="4343400"/>
            <a:ext cx="3108960" cy="457200"/>
          </a:xfrm>
          <a:prstGeom prst="rect">
            <a:avLst/>
          </a:prstGeom>
          <a:solidFill>
            <a:srgbClr val="F7EFD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384048" y="4443984"/>
            <a:ext cx="28895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lang="en-US" sz="750" dirty="0">
                <a:solidFill>
                  <a:srgbClr val="4A3B40"/>
                </a:solidFill>
                <a:latin typeface="Nunito Sans"/>
              </a:rPr>
              <a:t>No obligation. Hayli confirms every request personally before anything is scheduled.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274320" y="49377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302429"/>
                </a:solidFill>
                <a:latin typeface="Nunito Sans"/>
              </a:rPr>
              <a:t>(850) 426-8479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ling Standard">
  <a:themeElements>
    <a:clrScheme name="Sparkling">
      <a:dk1>
        <a:srgbClr val="302429"/>
      </a:dk1>
      <a:lt1>
        <a:srgbClr val="FDFBF8"/>
      </a:lt1>
      <a:dk2>
        <a:srgbClr val="3D3036"/>
      </a:dk2>
      <a:lt2>
        <a:srgbClr val="F9F3ED"/>
      </a:lt2>
      <a:accent1>
        <a:srgbClr val="93475B"/>
      </a:accent1>
      <a:accent2>
        <a:srgbClr val="C6A369"/>
      </a:accent2>
      <a:accent3>
        <a:srgbClr val="8BA888"/>
      </a:accent3>
      <a:accent4>
        <a:srgbClr val="6F5F57"/>
      </a:accent4>
      <a:accent5>
        <a:srgbClr val="E8B3BF"/>
      </a:accent5>
      <a:accent6>
        <a:srgbClr val="4A3B40"/>
      </a:accent6>
      <a:hlink>
        <a:srgbClr val="93475B"/>
      </a:hlink>
      <a:folHlink>
        <a:srgbClr val="7A3A4B"/>
      </a:folHlink>
    </a:clrScheme>
    <a:fontScheme name="Sparkling">
      <a:majorFont>
        <a:latin typeface="Fraunces"/>
        <a:ea typeface=""/>
        <a:cs typeface=""/>
      </a:majorFont>
      <a:minorFont>
        <a:latin typeface="Nunito Sans"/>
        <a:ea typeface=""/>
        <a:cs typeface=""/>
      </a:minorFont>
    </a:fontScheme>
    <a:fmtScheme name="Spark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