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3200400" cy="18288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lock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18872"/>
            <a:ext cx="1417320" cy="113063"/>
          </a:xfrm>
          <a:prstGeom prst="rect">
            <a:avLst/>
          </a:prstGeom>
        </p:spPr>
      </p:pic>
      <p:pic>
        <p:nvPicPr>
          <p:cNvPr id="3" name="Founder 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365760"/>
            <a:ext cx="640080" cy="742911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164592" y="5486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dirty="0">
                <a:solidFill>
                  <a:srgbClr val="302429"/>
                </a:solidFill>
                <a:latin typeface="Fraunces"/>
              </a:rPr>
              <a:t>Hayli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64592" y="914400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650" b="1" spc="150" dirty="0">
                <a:solidFill>
                  <a:srgbClr val="93475B"/>
                </a:solidFill>
                <a:latin typeface="Nunito Sans"/>
              </a:rPr>
              <a:t>FOUNDER &amp; OWNER-OPERATOR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64592" y="1261872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100" b="1" dirty="0">
                <a:solidFill>
                  <a:srgbClr val="302429"/>
                </a:solidFill>
                <a:latin typeface="Nunito Sans"/>
              </a:rPr>
              <a:t>(850) 426-8479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64592" y="1490472"/>
            <a:ext cx="283464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700" dirty="0">
                <a:solidFill>
                  <a:srgbClr val="4A3B40"/>
                </a:solidFill>
                <a:latin typeface="Nunito Sans"/>
              </a:rPr>
              <a:t>owner@sparkling-standard.com · sparkling-standard.com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64592" y="12801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dirty="0">
                <a:solidFill>
                  <a:srgbClr val="B15A6F"/>
                </a:solidFill>
                <a:latin typeface="Great Vibes"/>
              </a:rPr>
              <a:t>A note from Hayli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164592" y="365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800" dirty="0">
                <a:solidFill>
                  <a:srgbClr val="4A3B40"/>
                </a:solidFill>
                <a:latin typeface="Nunito Sans"/>
              </a:rPr>
              <a:t>When your home needs a hand, I answer personally — and the details stay done.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64592" y="914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lang="en-US" sz="750" dirty="0">
                <a:solidFill>
                  <a:srgbClr val="4A3B40"/>
                </a:solidFill>
                <a:latin typeface="Nunito Sans"/>
              </a:rPr>
              <a:t>Weekly, biweekly or monthly
The same careful standard
Hayli confirms every request</a:t>
            </a:r>
          </a:p>
        </p:txBody>
      </p:sp>
      <p:pic>
        <p:nvPicPr>
          <p:cNvPr id="5" name="QR — business c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868680"/>
            <a:ext cx="777240" cy="77724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920240" y="1664208"/>
            <a:ext cx="960120" cy="1097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600" dirty="0">
                <a:solidFill>
                  <a:srgbClr val="6F5F57"/>
                </a:solidFill>
                <a:latin typeface="Nunito Sans"/>
              </a:rPr>
              <a:t>Scan 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ling Standard">
  <a:themeElements>
    <a:clrScheme name="Sparkling">
      <a:dk1>
        <a:srgbClr val="302429"/>
      </a:dk1>
      <a:lt1>
        <a:srgbClr val="FDFBF8"/>
      </a:lt1>
      <a:dk2>
        <a:srgbClr val="3D3036"/>
      </a:dk2>
      <a:lt2>
        <a:srgbClr val="F9F3ED"/>
      </a:lt2>
      <a:accent1>
        <a:srgbClr val="93475B"/>
      </a:accent1>
      <a:accent2>
        <a:srgbClr val="C6A369"/>
      </a:accent2>
      <a:accent3>
        <a:srgbClr val="8BA888"/>
      </a:accent3>
      <a:accent4>
        <a:srgbClr val="6F5F57"/>
      </a:accent4>
      <a:accent5>
        <a:srgbClr val="E8B3BF"/>
      </a:accent5>
      <a:accent6>
        <a:srgbClr val="4A3B40"/>
      </a:accent6>
      <a:hlink>
        <a:srgbClr val="93475B"/>
      </a:hlink>
      <a:folHlink>
        <a:srgbClr val="7A3A4B"/>
      </a:folHlink>
    </a:clrScheme>
    <a:fontScheme name="Sparkling">
      <a:majorFont>
        <a:latin typeface="Fraunces"/>
        <a:ea typeface=""/>
        <a:cs typeface=""/>
      </a:majorFont>
      <a:minorFont>
        <a:latin typeface="Nunito Sans"/>
        <a:ea typeface=""/>
        <a:cs typeface=""/>
      </a:minorFont>
    </a:fontScheme>
    <a:fmtScheme name="Spark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